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5F02B9-377C-40C6-B484-D75A0D31F006}" v="5" dt="2026-08-06T10:54:49.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6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phemia ayogu" userId="f24826026964cce9" providerId="LiveId" clId="{573B6197-75F2-4B9E-9799-F2350AB72399}"/>
    <pc:docChg chg="custSel modSld">
      <pc:chgData name="euphemia ayogu" userId="f24826026964cce9" providerId="LiveId" clId="{573B6197-75F2-4B9E-9799-F2350AB72399}" dt="2026-08-06T11:04:10.385" v="56" actId="403"/>
      <pc:docMkLst>
        <pc:docMk/>
      </pc:docMkLst>
      <pc:sldChg chg="addSp delSp modSp mod modTransition modClrScheme chgLayout">
        <pc:chgData name="euphemia ayogu" userId="f24826026964cce9" providerId="LiveId" clId="{573B6197-75F2-4B9E-9799-F2350AB72399}" dt="2026-08-06T11:04:10.385" v="56" actId="403"/>
        <pc:sldMkLst>
          <pc:docMk/>
          <pc:sldMk cId="2436877497" sldId="256"/>
        </pc:sldMkLst>
        <pc:spChg chg="mod ord">
          <ac:chgData name="euphemia ayogu" userId="f24826026964cce9" providerId="LiveId" clId="{573B6197-75F2-4B9E-9799-F2350AB72399}" dt="2026-08-06T11:04:10.385" v="56" actId="403"/>
          <ac:spMkLst>
            <pc:docMk/>
            <pc:sldMk cId="2436877497" sldId="256"/>
            <ac:spMk id="2" creationId="{EDB2BAFB-F538-3E70-6000-FA5374B90F57}"/>
          </ac:spMkLst>
        </pc:spChg>
        <pc:spChg chg="mod">
          <ac:chgData name="euphemia ayogu" userId="f24826026964cce9" providerId="LiveId" clId="{573B6197-75F2-4B9E-9799-F2350AB72399}" dt="2026-08-06T11:03:21.203" v="48" actId="14100"/>
          <ac:spMkLst>
            <pc:docMk/>
            <pc:sldMk cId="2436877497" sldId="256"/>
            <ac:spMk id="4" creationId="{0218587A-3884-9BE9-6953-BCD4674B8924}"/>
          </ac:spMkLst>
        </pc:spChg>
        <pc:spChg chg="del mod replId">
          <ac:chgData name="euphemia ayogu" userId="f24826026964cce9" providerId="LiveId" clId="{573B6197-75F2-4B9E-9799-F2350AB72399}" dt="2026-08-06T10:56:29.160" v="11" actId="26606"/>
          <ac:spMkLst>
            <pc:docMk/>
            <pc:sldMk cId="2436877497" sldId="256"/>
            <ac:spMk id="5" creationId="{81F22053-86D6-871B-19BC-849BE716A344}"/>
          </ac:spMkLst>
        </pc:spChg>
        <pc:spChg chg="add mod ord">
          <ac:chgData name="euphemia ayogu" userId="f24826026964cce9" providerId="LiveId" clId="{573B6197-75F2-4B9E-9799-F2350AB72399}" dt="2026-08-06T11:03:58.339" v="53" actId="403"/>
          <ac:spMkLst>
            <pc:docMk/>
            <pc:sldMk cId="2436877497" sldId="256"/>
            <ac:spMk id="9" creationId="{00000000-0000-0000-0000-000000000000}"/>
          </ac:spMkLst>
        </pc:spChg>
        <pc:spChg chg="add del">
          <ac:chgData name="euphemia ayogu" userId="f24826026964cce9" providerId="LiveId" clId="{573B6197-75F2-4B9E-9799-F2350AB72399}" dt="2026-08-06T10:59:44.326" v="19" actId="478"/>
          <ac:spMkLst>
            <pc:docMk/>
            <pc:sldMk cId="2436877497" sldId="256"/>
            <ac:spMk id="11" creationId="{703EC2FF-C3CE-5BA4-1D72-E194997CC817}"/>
          </ac:spMkLst>
        </pc:spChg>
        <pc:spChg chg="add del">
          <ac:chgData name="euphemia ayogu" userId="f24826026964cce9" providerId="LiveId" clId="{573B6197-75F2-4B9E-9799-F2350AB72399}" dt="2026-08-06T11:01:33.721" v="34" actId="478"/>
          <ac:spMkLst>
            <pc:docMk/>
            <pc:sldMk cId="2436877497" sldId="256"/>
            <ac:spMk id="12" creationId="{5E28F377-386A-36D9-A818-DCAFC4400B4A}"/>
          </ac:spMkLst>
        </pc:spChg>
        <pc:spChg chg="add del">
          <ac:chgData name="euphemia ayogu" userId="f24826026964cce9" providerId="LiveId" clId="{573B6197-75F2-4B9E-9799-F2350AB72399}" dt="2026-08-06T11:01:50.793" v="36" actId="478"/>
          <ac:spMkLst>
            <pc:docMk/>
            <pc:sldMk cId="2436877497" sldId="256"/>
            <ac:spMk id="13" creationId="{F782AA93-3E45-E7AB-D633-F313F26276B2}"/>
          </ac:spMkLst>
        </pc:spChg>
        <pc:spChg chg="add del mod">
          <ac:chgData name="euphemia ayogu" userId="f24826026964cce9" providerId="LiveId" clId="{573B6197-75F2-4B9E-9799-F2350AB72399}" dt="2026-08-06T10:57:45.191" v="13" actId="478"/>
          <ac:spMkLst>
            <pc:docMk/>
            <pc:sldMk cId="2436877497" sldId="256"/>
            <ac:spMk id="14" creationId="{03F6BF03-6EE0-07EC-4E81-F7C06623FB07}"/>
          </ac:spMkLst>
        </pc:spChg>
        <pc:picChg chg="add mod ord">
          <ac:chgData name="euphemia ayogu" userId="f24826026964cce9" providerId="LiveId" clId="{573B6197-75F2-4B9E-9799-F2350AB72399}" dt="2026-08-06T11:02:51.606" v="45" actId="14100"/>
          <ac:picMkLst>
            <pc:docMk/>
            <pc:sldMk cId="2436877497" sldId="256"/>
            <ac:picMk id="3" creationId="{00000000-0000-0000-0000-000000000000}"/>
          </ac:picMkLst>
        </pc:picChg>
      </pc:sldChg>
      <pc:sldChg chg="modTransition">
        <pc:chgData name="euphemia ayogu" userId="f24826026964cce9" providerId="LiveId" clId="{573B6197-75F2-4B9E-9799-F2350AB72399}" dt="2026-08-06T10:53:04.465" v="5"/>
        <pc:sldMkLst>
          <pc:docMk/>
          <pc:sldMk cId="1176143082" sldId="257"/>
        </pc:sldMkLst>
      </pc:sldChg>
      <pc:sldChg chg="modTransition">
        <pc:chgData name="euphemia ayogu" userId="f24826026964cce9" providerId="LiveId" clId="{573B6197-75F2-4B9E-9799-F2350AB72399}" dt="2026-08-06T10:53:08.425" v="6"/>
        <pc:sldMkLst>
          <pc:docMk/>
          <pc:sldMk cId="1908091595" sldId="258"/>
        </pc:sldMkLst>
      </pc:sldChg>
      <pc:sldChg chg="modTransition">
        <pc:chgData name="euphemia ayogu" userId="f24826026964cce9" providerId="LiveId" clId="{573B6197-75F2-4B9E-9799-F2350AB72399}" dt="2026-08-06T10:53:12.182" v="7"/>
        <pc:sldMkLst>
          <pc:docMk/>
          <pc:sldMk cId="2687389140" sldId="259"/>
        </pc:sldMkLst>
      </pc:sldChg>
      <pc:sldChg chg="modSp mod modTransition">
        <pc:chgData name="euphemia ayogu" userId="f24826026964cce9" providerId="LiveId" clId="{573B6197-75F2-4B9E-9799-F2350AB72399}" dt="2026-08-06T10:53:17.230" v="8"/>
        <pc:sldMkLst>
          <pc:docMk/>
          <pc:sldMk cId="2634497050" sldId="260"/>
        </pc:sldMkLst>
        <pc:spChg chg="mod">
          <ac:chgData name="euphemia ayogu" userId="f24826026964cce9" providerId="LiveId" clId="{573B6197-75F2-4B9E-9799-F2350AB72399}" dt="2026-08-06T10:51:26.941" v="3" actId="1076"/>
          <ac:spMkLst>
            <pc:docMk/>
            <pc:sldMk cId="2634497050" sldId="260"/>
            <ac:spMk id="20" creationId="{9AC039C6-DCAA-87EF-022B-6B49DB0803D2}"/>
          </ac:spMkLst>
        </pc:spChg>
        <pc:picChg chg="mod">
          <ac:chgData name="euphemia ayogu" userId="f24826026964cce9" providerId="LiveId" clId="{573B6197-75F2-4B9E-9799-F2350AB72399}" dt="2026-08-06T10:52:42.408" v="4" actId="26606"/>
          <ac:picMkLst>
            <pc:docMk/>
            <pc:sldMk cId="2634497050" sldId="260"/>
            <ac:picMk id="8" creationId="{10E08270-31BA-99B1-5C5F-BF878D142049}"/>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05436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2882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332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12270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268374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63264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72768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9185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dirty="0"/>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6945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0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378500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dirty="0"/>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dirty="0"/>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dirty="0"/>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5" r:id="rId3"/>
    <p:sldLayoutId id="2147483787" r:id="rId4"/>
    <p:sldLayoutId id="2147483789" r:id="rId5"/>
    <p:sldLayoutId id="2147483790" r:id="rId6"/>
    <p:sldLayoutId id="2147483791" r:id="rId7"/>
    <p:sldLayoutId id="2147483794" r:id="rId8"/>
    <p:sldLayoutId id="2147483796" r:id="rId9"/>
    <p:sldLayoutId id="2147483797" r:id="rId10"/>
    <p:sldLayoutId id="2147483799" r:id="rId11"/>
    <p:sldLayoutId id="2147483800" r:id="rId12"/>
    <p:sldLayoutId id="2147483802" r:id="rId13"/>
    <p:sldLayoutId id="2147483804" r:id="rId14"/>
    <p:sldLayoutId id="2147483805" r:id="rId15"/>
    <p:sldLayoutId id="2147483808" r:id="rId16"/>
    <p:sldLayoutId id="2147483812" r:id="rId17"/>
    <p:sldLayoutId id="2147483855" r:id="rId18"/>
    <p:sldLayoutId id="2147483814" r:id="rId19"/>
    <p:sldLayoutId id="2147483817" r:id="rId20"/>
    <p:sldLayoutId id="2147483820" r:id="rId21"/>
    <p:sldLayoutId id="2147483858" r:id="rId22"/>
    <p:sldLayoutId id="2147483859" r:id="rId23"/>
    <p:sldLayoutId id="2147483825" r:id="rId24"/>
    <p:sldLayoutId id="2147483826" r:id="rId25"/>
    <p:sldLayoutId id="2147483829" r:id="rId26"/>
    <p:sldLayoutId id="2147483830" r:id="rId27"/>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thebluediamondgallery.com/wooden-tile/r/risk.html" TargetMode="External"/><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hyperlink" Target="https://www.picpedia.org/chalkboard/o/opportunity.html" TargetMode="External"/><Relationship Id="rId2" Type="http://schemas.openxmlformats.org/officeDocument/2006/relationships/image" Target="../media/image11.jp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hyperlink" Target="https://www.istockphoto.com/photos/recommendation" TargetMode="External"/><Relationship Id="rId2" Type="http://schemas.openxmlformats.org/officeDocument/2006/relationships/image" Target="../media/image12.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18587A-3884-9BE9-6953-BCD4674B8924}"/>
              </a:ext>
            </a:extLst>
          </p:cNvPr>
          <p:cNvSpPr>
            <a:spLocks noGrp="1"/>
          </p:cNvSpPr>
          <p:nvPr>
            <p:ph type="title"/>
          </p:nvPr>
        </p:nvSpPr>
        <p:spPr>
          <a:xfrm>
            <a:off x="5497286" y="192975"/>
            <a:ext cx="6694713" cy="1276596"/>
          </a:xfrm>
        </p:spPr>
        <p:txBody>
          <a:bodyPr vert="horz" lIns="91440" tIns="45720" rIns="91440" bIns="45720" rtlCol="0" anchor="t">
            <a:normAutofit fontScale="90000"/>
          </a:bodyPr>
          <a:lstStyle/>
          <a:p>
            <a:r>
              <a:rPr lang="en-US" b="0" i="0" kern="1200" spc="-200" baseline="0" dirty="0">
                <a:latin typeface="+mj-lt"/>
                <a:ea typeface="+mj-ea"/>
                <a:cs typeface="+mj-cs"/>
              </a:rPr>
              <a:t>Customer Churn Analysis</a:t>
            </a:r>
          </a:p>
        </p:txBody>
      </p:sp>
      <p:sp>
        <p:nvSpPr>
          <p:cNvPr id="2" name="Subtitle 1">
            <a:extLst>
              <a:ext uri="{FF2B5EF4-FFF2-40B4-BE49-F238E27FC236}">
                <a16:creationId xmlns:a16="http://schemas.microsoft.com/office/drawing/2014/main" id="{EDB2BAFB-F538-3E70-6000-FA5374B90F57}"/>
              </a:ext>
            </a:extLst>
          </p:cNvPr>
          <p:cNvSpPr>
            <a:spLocks noGrp="1"/>
          </p:cNvSpPr>
          <p:nvPr>
            <p:ph type="body" idx="1"/>
          </p:nvPr>
        </p:nvSpPr>
        <p:spPr>
          <a:xfrm>
            <a:off x="5497286" y="2370709"/>
            <a:ext cx="5184648" cy="534033"/>
          </a:xfrm>
        </p:spPr>
        <p:txBody>
          <a:bodyPr vert="horz" lIns="91440" tIns="45720" rIns="91440" bIns="45720" rtlCol="0">
            <a:normAutofit/>
          </a:bodyPr>
          <a:lstStyle/>
          <a:p>
            <a:r>
              <a:rPr lang="en-US" sz="1800" kern="1200" baseline="0" dirty="0">
                <a:latin typeface="Aptos Narrow" panose="020B0004020202020204" pitchFamily="34" charset="0"/>
              </a:rPr>
              <a:t>Prepared for ABC Communication Ltd</a:t>
            </a:r>
          </a:p>
        </p:txBody>
      </p:sp>
      <p:pic>
        <p:nvPicPr>
          <p:cNvPr id="3" name="Cover image" descr="Fiber-optic network over a city skyline with a customer analytics dashboard"/>
          <p:cNvPicPr>
            <a:picLocks noGrp="1" noChangeAspect="1"/>
          </p:cNvPicPr>
          <p:nvPr>
            <p:ph sz="quarter" idx="17"/>
          </p:nvPr>
        </p:nvPicPr>
        <p:blipFill>
          <a:blip r:embed="rId2"/>
          <a:srcRect r="3522" b="-1"/>
          <a:stretch>
            <a:fillRect/>
          </a:stretch>
        </p:blipFill>
        <p:spPr>
          <a:xfrm>
            <a:off x="0" y="1"/>
            <a:ext cx="5183188" cy="6858000"/>
          </a:xfrm>
          <a:prstGeom prst="rect">
            <a:avLst/>
          </a:prstGeom>
          <a:noFill/>
        </p:spPr>
      </p:pic>
      <p:sp>
        <p:nvSpPr>
          <p:cNvPr id="9" name="Report details"/>
          <p:cNvSpPr txBox="1"/>
          <p:nvPr/>
        </p:nvSpPr>
        <p:spPr>
          <a:xfrm>
            <a:off x="5451720" y="2904742"/>
            <a:ext cx="5183188" cy="3586110"/>
          </a:xfrm>
          <a:prstGeom prst="rect">
            <a:avLst/>
          </a:prstGeom>
        </p:spPr>
        <p:txBody>
          <a:bodyPr vert="horz" lIns="91440" tIns="45720" rIns="91440" bIns="45720" rtlCol="0">
            <a:normAutofit/>
          </a:bodyPr>
          <a:lstStyle/>
          <a:p>
            <a:pPr>
              <a:lnSpc>
                <a:spcPct val="80000"/>
              </a:lnSpc>
              <a:spcBef>
                <a:spcPts val="1000"/>
              </a:spcBef>
            </a:pPr>
            <a:r>
              <a:rPr lang="en-US" b="1">
                <a:latin typeface="Aptos Narrow" panose="020B0004020202020204" pitchFamily="34" charset="0"/>
              </a:rPr>
              <a:t>Analysis prepared by Euphemia Ayogu</a:t>
            </a:r>
          </a:p>
          <a:p>
            <a:pPr>
              <a:lnSpc>
                <a:spcPct val="80000"/>
              </a:lnSpc>
              <a:spcBef>
                <a:spcPts val="1000"/>
              </a:spcBef>
            </a:pPr>
            <a:r>
              <a:rPr lang="en-US">
                <a:latin typeface="Aptos Narrow" panose="020B0004020202020204" pitchFamily="34" charset="0"/>
              </a:rPr>
              <a:t>Inside: Key Insights  |  Business Risk</a:t>
            </a:r>
          </a:p>
          <a:p>
            <a:pPr>
              <a:lnSpc>
                <a:spcPct val="80000"/>
              </a:lnSpc>
              <a:spcBef>
                <a:spcPts val="1000"/>
              </a:spcBef>
            </a:pPr>
            <a:r>
              <a:rPr lang="en-US">
                <a:latin typeface="Aptos Narrow" panose="020B0004020202020204" pitchFamily="34" charset="0"/>
              </a:rPr>
              <a:t>Business Opportunity  |  Actionable Recommendations</a:t>
            </a:r>
          </a:p>
        </p:txBody>
      </p:sp>
    </p:spTree>
    <p:extLst>
      <p:ext uri="{BB962C8B-B14F-4D97-AF65-F5344CB8AC3E}">
        <p14:creationId xmlns:p14="http://schemas.microsoft.com/office/powerpoint/2010/main" val="243687749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764E-DD8E-4629-187B-873592E021B5}"/>
              </a:ext>
            </a:extLst>
          </p:cNvPr>
          <p:cNvSpPr>
            <a:spLocks noGrp="1"/>
          </p:cNvSpPr>
          <p:nvPr>
            <p:ph type="title"/>
          </p:nvPr>
        </p:nvSpPr>
        <p:spPr>
          <a:xfrm>
            <a:off x="6285360" y="308220"/>
            <a:ext cx="5624142" cy="1063380"/>
          </a:xfrm>
        </p:spPr>
        <p:txBody>
          <a:bodyPr anchor="t">
            <a:normAutofit/>
          </a:bodyPr>
          <a:lstStyle/>
          <a:p>
            <a:r>
              <a:rPr lang="en-US" dirty="0"/>
              <a:t>Key Findings</a:t>
            </a:r>
          </a:p>
        </p:txBody>
      </p:sp>
      <p:pic>
        <p:nvPicPr>
          <p:cNvPr id="5" name="Picture 4" descr="Close-up of a server network panel with lights and cables">
            <a:extLst>
              <a:ext uri="{FF2B5EF4-FFF2-40B4-BE49-F238E27FC236}">
                <a16:creationId xmlns:a16="http://schemas.microsoft.com/office/drawing/2014/main" id="{79CDAC53-1570-4454-D1D2-90B21C566592}"/>
              </a:ext>
            </a:extLst>
          </p:cNvPr>
          <p:cNvPicPr>
            <a:picLocks noChangeAspect="1"/>
          </p:cNvPicPr>
          <p:nvPr/>
        </p:nvPicPr>
        <p:blipFill>
          <a:blip r:embed="rId2"/>
          <a:srcRect l="4014" r="38495" b="-1"/>
          <a:stretch>
            <a:fillRect/>
          </a:stretch>
        </p:blipFill>
        <p:spPr>
          <a:xfrm>
            <a:off x="20" y="10"/>
            <a:ext cx="5906622" cy="6857990"/>
          </a:xfrm>
          <a:prstGeom prst="rect">
            <a:avLst/>
          </a:prstGeom>
          <a:noFill/>
        </p:spPr>
      </p:pic>
      <p:sp>
        <p:nvSpPr>
          <p:cNvPr id="3" name="Content Placeholder 2">
            <a:extLst>
              <a:ext uri="{FF2B5EF4-FFF2-40B4-BE49-F238E27FC236}">
                <a16:creationId xmlns:a16="http://schemas.microsoft.com/office/drawing/2014/main" id="{618A5A1A-1C7A-7210-782F-BD6EB1C1515D}"/>
              </a:ext>
            </a:extLst>
          </p:cNvPr>
          <p:cNvSpPr>
            <a:spLocks noGrp="1"/>
          </p:cNvSpPr>
          <p:nvPr>
            <p:ph sz="quarter" idx="13"/>
          </p:nvPr>
        </p:nvSpPr>
        <p:spPr>
          <a:xfrm>
            <a:off x="6285359" y="1560001"/>
            <a:ext cx="5624141" cy="4417054"/>
          </a:xfrm>
        </p:spPr>
        <p:txBody>
          <a:bodyPr anchor="b">
            <a:normAutofit fontScale="92500"/>
          </a:bodyPr>
          <a:lstStyle/>
          <a:p>
            <a:pPr marL="342900" indent="-342900">
              <a:lnSpc>
                <a:spcPct val="110000"/>
              </a:lnSpc>
              <a:spcBef>
                <a:spcPts val="1000"/>
              </a:spcBef>
              <a:buAutoNum type="arabicPeriod"/>
            </a:pPr>
            <a:r>
              <a:rPr lang="en-US" b="1" dirty="0">
                <a:latin typeface="Aptos Narrow" panose="020B0004020202020204" pitchFamily="34" charset="0"/>
              </a:rPr>
              <a:t>Customer churn is concentrated within a specific high-risk customer segment. </a:t>
            </a:r>
            <a:r>
              <a:rPr lang="en-US" dirty="0">
                <a:latin typeface="Aptos Narrow" panose="020B0004020202020204" pitchFamily="34" charset="0"/>
              </a:rPr>
              <a:t>Customers on month-to-month contracts who use Fiber Optic internet, receive paperless billing, and pay through electronic check recorded the highest churn rates.</a:t>
            </a:r>
          </a:p>
          <a:p>
            <a:pPr marL="342900" indent="-342900">
              <a:lnSpc>
                <a:spcPct val="110000"/>
              </a:lnSpc>
              <a:spcBef>
                <a:spcPts val="1000"/>
              </a:spcBef>
              <a:buAutoNum type="arabicPeriod"/>
            </a:pPr>
            <a:r>
              <a:rPr lang="en-US" b="1" dirty="0">
                <a:latin typeface="Aptos Narrow" panose="020B0004020202020204" pitchFamily="34" charset="0"/>
              </a:rPr>
              <a:t>Contract type has the strongest influence on customer retention. </a:t>
            </a:r>
            <a:r>
              <a:rPr lang="en-US" dirty="0">
                <a:latin typeface="Aptos Narrow" panose="020B0004020202020204" pitchFamily="34" charset="0"/>
              </a:rPr>
              <a:t>Customers on one-year and two-year contracts were significantly more likely to remain than month-to-month subscribers.</a:t>
            </a:r>
          </a:p>
          <a:p>
            <a:pPr marL="342900" indent="-342900">
              <a:lnSpc>
                <a:spcPct val="110000"/>
              </a:lnSpc>
              <a:spcBef>
                <a:spcPts val="1000"/>
              </a:spcBef>
              <a:buAutoNum type="arabicPeriod"/>
            </a:pPr>
            <a:r>
              <a:rPr lang="en-US" b="1" dirty="0">
                <a:latin typeface="Aptos Narrow" panose="020B0004020202020204" pitchFamily="34" charset="0"/>
              </a:rPr>
              <a:t>Customer churn is highest during the early stages of the customer lifecycle. </a:t>
            </a:r>
            <a:r>
              <a:rPr lang="en-US" dirty="0">
                <a:latin typeface="Aptos Narrow" panose="020B0004020202020204" pitchFamily="34" charset="0"/>
              </a:rPr>
              <a:t>Customers with shorter tenure churned far more than long-term customers, making early retention critical.</a:t>
            </a:r>
          </a:p>
          <a:p>
            <a:pPr marL="342900" indent="-342900">
              <a:lnSpc>
                <a:spcPct val="110000"/>
              </a:lnSpc>
              <a:spcBef>
                <a:spcPts val="1000"/>
              </a:spcBef>
              <a:buAutoNum type="arabicPeriod"/>
            </a:pPr>
            <a:r>
              <a:rPr lang="en-US" b="1" dirty="0">
                <a:latin typeface="Aptos Narrow" panose="020B0004020202020204" pitchFamily="34" charset="0"/>
              </a:rPr>
              <a:t>Service and billing factors have a greater impact on churn than customer demographics. </a:t>
            </a:r>
            <a:r>
              <a:rPr lang="en-US" dirty="0">
                <a:latin typeface="Aptos Narrow" panose="020B0004020202020204" pitchFamily="34" charset="0"/>
              </a:rPr>
              <a:t>Internet service, billing preferences, payment method, and contract type were stronger drivers of churn than gender or age.</a:t>
            </a:r>
          </a:p>
          <a:p>
            <a:pPr marL="342900" indent="-342900">
              <a:lnSpc>
                <a:spcPct val="110000"/>
              </a:lnSpc>
              <a:spcBef>
                <a:spcPts val="1000"/>
              </a:spcBef>
              <a:buAutoNum type="arabicPeriod"/>
            </a:pPr>
            <a:r>
              <a:rPr lang="en-US" b="1" dirty="0">
                <a:latin typeface="Aptos Narrow" panose="020B0004020202020204" pitchFamily="34" charset="0"/>
              </a:rPr>
              <a:t>Fiber Optic customers require immediate business attention. </a:t>
            </a:r>
            <a:r>
              <a:rPr lang="en-US" dirty="0">
                <a:latin typeface="Aptos Narrow" panose="020B0004020202020204" pitchFamily="34" charset="0"/>
              </a:rPr>
              <a:t>The consistently high churn among Fiber Optic users suggests potential issues with pricing, service quality, customer expectations, or competition.</a:t>
            </a:r>
          </a:p>
        </p:txBody>
      </p:sp>
    </p:spTree>
    <p:extLst>
      <p:ext uri="{BB962C8B-B14F-4D97-AF65-F5344CB8AC3E}">
        <p14:creationId xmlns:p14="http://schemas.microsoft.com/office/powerpoint/2010/main" val="117614308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E29F-0AE6-716F-AAE8-8A3ED1285CA9}"/>
              </a:ext>
            </a:extLst>
          </p:cNvPr>
          <p:cNvSpPr>
            <a:spLocks noGrp="1"/>
          </p:cNvSpPr>
          <p:nvPr>
            <p:ph type="title"/>
          </p:nvPr>
        </p:nvSpPr>
        <p:spPr>
          <a:xfrm>
            <a:off x="5675970" y="621792"/>
            <a:ext cx="6516029" cy="1138769"/>
          </a:xfrm>
        </p:spPr>
        <p:txBody>
          <a:bodyPr anchor="t">
            <a:normAutofit/>
          </a:bodyPr>
          <a:lstStyle/>
          <a:p>
            <a:r>
              <a:rPr lang="en-US" dirty="0"/>
              <a:t>Business Risk</a:t>
            </a:r>
          </a:p>
        </p:txBody>
      </p:sp>
      <p:pic>
        <p:nvPicPr>
          <p:cNvPr id="6" name="Picture Placeholder 5">
            <a:extLst>
              <a:ext uri="{FF2B5EF4-FFF2-40B4-BE49-F238E27FC236}">
                <a16:creationId xmlns:a16="http://schemas.microsoft.com/office/drawing/2014/main" id="{FA712000-F5B0-2676-E32F-68C354DF718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0421" r="30419" b="-2"/>
          <a:stretch>
            <a:fillRect/>
          </a:stretch>
        </p:blipFill>
        <p:spPr>
          <a:xfrm>
            <a:off x="19" y="1"/>
            <a:ext cx="5006879" cy="6858000"/>
          </a:xfrm>
          <a:noFill/>
        </p:spPr>
      </p:pic>
      <p:sp>
        <p:nvSpPr>
          <p:cNvPr id="12" name="Content Placeholder 3">
            <a:extLst>
              <a:ext uri="{FF2B5EF4-FFF2-40B4-BE49-F238E27FC236}">
                <a16:creationId xmlns:a16="http://schemas.microsoft.com/office/drawing/2014/main" id="{CAFCB796-081D-0191-ADAE-F41A8870A534}"/>
              </a:ext>
            </a:extLst>
          </p:cNvPr>
          <p:cNvSpPr>
            <a:spLocks noGrp="1"/>
          </p:cNvSpPr>
          <p:nvPr>
            <p:ph sz="quarter" idx="14"/>
          </p:nvPr>
        </p:nvSpPr>
        <p:spPr>
          <a:xfrm>
            <a:off x="5675971" y="2115404"/>
            <a:ext cx="5858532" cy="4463816"/>
          </a:xfrm>
        </p:spPr>
        <p:txBody>
          <a:bodyPr>
            <a:normAutofit/>
          </a:bodyPr>
          <a:lstStyle/>
          <a:p>
            <a:pPr marL="342900" indent="-342900">
              <a:buAutoNum type="arabicPeriod"/>
            </a:pPr>
            <a:r>
              <a:rPr lang="en-US" sz="1800" b="1" dirty="0">
                <a:latin typeface="Aptos Narrow" panose="020B0004020202020204" pitchFamily="34" charset="0"/>
              </a:rPr>
              <a:t>High Churn Among Month-to-Month Customers. </a:t>
            </a:r>
            <a:r>
              <a:rPr lang="en-US" sz="1800" dirty="0">
                <a:latin typeface="Aptos Narrow" panose="020B0004020202020204" pitchFamily="34" charset="0"/>
              </a:rPr>
              <a:t>The company risks losing many customers who are on month-to-month plans. If retention does not improve, the cost of acquiring new customers will keep rising while loyalty continues to fall.</a:t>
            </a:r>
          </a:p>
          <a:p>
            <a:pPr marL="342900" indent="-342900">
              <a:spcBef>
                <a:spcPts val="1000"/>
              </a:spcBef>
              <a:buAutoNum type="arabicPeriod"/>
            </a:pPr>
            <a:r>
              <a:rPr lang="en-US" sz="1800" b="1" dirty="0">
                <a:latin typeface="Aptos Narrow" panose="020B0004020202020204" pitchFamily="34" charset="0"/>
              </a:rPr>
              <a:t>Poor Retention of Fiber Optic Customers. </a:t>
            </a:r>
            <a:r>
              <a:rPr lang="en-US" sz="1800" dirty="0">
                <a:latin typeface="Aptos Narrow" panose="020B0004020202020204" pitchFamily="34" charset="0"/>
              </a:rPr>
              <a:t>Fiber Optic customers left at the highest rate, which points to problems with service quality, pricing, or what customers expect. Left unfixed, this can cut income from one of the company’s main services.</a:t>
            </a:r>
          </a:p>
          <a:p>
            <a:pPr marL="342900" indent="-342900">
              <a:spcBef>
                <a:spcPts val="1000"/>
              </a:spcBef>
              <a:buAutoNum type="arabicPeriod"/>
            </a:pPr>
            <a:r>
              <a:rPr lang="en-US" sz="1800" b="1" dirty="0">
                <a:latin typeface="Aptos Narrow" panose="020B0004020202020204" pitchFamily="34" charset="0"/>
              </a:rPr>
              <a:t>High Churn Early in the Customer Journey. </a:t>
            </a:r>
            <a:r>
              <a:rPr lang="en-US" sz="1800" dirty="0">
                <a:latin typeface="Aptos Narrow" panose="020B0004020202020204" pitchFamily="34" charset="0"/>
              </a:rPr>
              <a:t>Newer customers are far more likely to leave. This shows gaps in how customers are welcomed and supported at the start, making lasting relationships harder to build.</a:t>
            </a:r>
          </a:p>
        </p:txBody>
      </p:sp>
    </p:spTree>
    <p:extLst>
      <p:ext uri="{BB962C8B-B14F-4D97-AF65-F5344CB8AC3E}">
        <p14:creationId xmlns:p14="http://schemas.microsoft.com/office/powerpoint/2010/main" val="190809159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79F09028-836F-92C8-2BAF-4E1386054732}"/>
              </a:ext>
            </a:extLst>
          </p:cNvPr>
          <p:cNvSpPr>
            <a:spLocks noGrp="1"/>
          </p:cNvSpPr>
          <p:nvPr>
            <p:ph type="title"/>
          </p:nvPr>
        </p:nvSpPr>
        <p:spPr>
          <a:xfrm>
            <a:off x="5713539" y="474818"/>
            <a:ext cx="6274022" cy="1088358"/>
          </a:xfrm>
        </p:spPr>
        <p:txBody>
          <a:bodyPr>
            <a:normAutofit fontScale="90000"/>
          </a:bodyPr>
          <a:lstStyle/>
          <a:p>
            <a:r>
              <a:rPr lang="en-US" dirty="0"/>
              <a:t>Business opportunity</a:t>
            </a:r>
          </a:p>
        </p:txBody>
      </p:sp>
      <p:pic>
        <p:nvPicPr>
          <p:cNvPr id="15" name="Picture Placeholder 14">
            <a:extLst>
              <a:ext uri="{FF2B5EF4-FFF2-40B4-BE49-F238E27FC236}">
                <a16:creationId xmlns:a16="http://schemas.microsoft.com/office/drawing/2014/main" id="{33E95617-4C0F-B25A-0AF6-1442E2C7C06A}"/>
              </a:ext>
            </a:extLst>
          </p:cNvPr>
          <p:cNvPicPr>
            <a:picLocks noGrp="1" noChangeAspect="1"/>
          </p:cNvPicPr>
          <p:nvPr>
            <p:ph sz="quarter" idx="17"/>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84" r="2481" b="-3"/>
          <a:stretch>
            <a:fillRect/>
          </a:stretch>
        </p:blipFill>
        <p:spPr>
          <a:xfrm>
            <a:off x="0" y="0"/>
            <a:ext cx="5289793" cy="6858000"/>
          </a:xfrm>
          <a:noFill/>
        </p:spPr>
      </p:pic>
      <p:sp>
        <p:nvSpPr>
          <p:cNvPr id="27" name="Content Placeholder 5">
            <a:extLst>
              <a:ext uri="{FF2B5EF4-FFF2-40B4-BE49-F238E27FC236}">
                <a16:creationId xmlns:a16="http://schemas.microsoft.com/office/drawing/2014/main" id="{69055CD4-92D5-C40A-C653-77F572B0B381}"/>
              </a:ext>
            </a:extLst>
          </p:cNvPr>
          <p:cNvSpPr>
            <a:spLocks noGrp="1"/>
          </p:cNvSpPr>
          <p:nvPr>
            <p:ph sz="quarter" idx="18"/>
          </p:nvPr>
        </p:nvSpPr>
        <p:spPr>
          <a:xfrm>
            <a:off x="5503326" y="1792889"/>
            <a:ext cx="6694448" cy="4194967"/>
          </a:xfrm>
        </p:spPr>
        <p:txBody>
          <a:bodyPr>
            <a:normAutofit/>
          </a:bodyPr>
          <a:lstStyle/>
          <a:p>
            <a:pPr marL="342900" indent="-342900">
              <a:buAutoNum type="arabicPeriod"/>
            </a:pPr>
            <a:r>
              <a:rPr lang="en-US" sz="1800" dirty="0">
                <a:latin typeface="Aptos Narrow" panose="020B0004020202020204" pitchFamily="34" charset="0"/>
              </a:rPr>
              <a:t>Increase customer lifetime value. The strong retention observed among customers on longer-term contracts presents an opportunity to increase customer lifetime value by encouraging long-term subscriptions</a:t>
            </a:r>
          </a:p>
          <a:p>
            <a:pPr marL="342900" indent="-342900">
              <a:buAutoNum type="arabicPeriod"/>
            </a:pPr>
            <a:r>
              <a:rPr lang="en-US" sz="1800" dirty="0">
                <a:latin typeface="Aptos Narrow" panose="020B0004020202020204" pitchFamily="34" charset="0"/>
              </a:rPr>
              <a:t> Strengthen customer loyalty. Customers with partners and dependents demonstrated lower churn rates, indicating an opportunity to design loyalty programs that encourage stronger customer commitment and long-term relationships</a:t>
            </a:r>
          </a:p>
          <a:p>
            <a:pPr marL="342900" indent="-342900">
              <a:buAutoNum type="arabicPeriod"/>
            </a:pPr>
            <a:r>
              <a:rPr lang="en-US" sz="1800" dirty="0">
                <a:latin typeface="Aptos Narrow" panose="020B0004020202020204" pitchFamily="34" charset="0"/>
              </a:rPr>
              <a:t> Improve the profitability of premium services. Addressing the issues affecting Fiber Optic customers presents an opportunity to improve customer satisfaction, reduce churn, and maximize revenue from premium internet service</a:t>
            </a:r>
          </a:p>
        </p:txBody>
      </p:sp>
    </p:spTree>
    <p:extLst>
      <p:ext uri="{BB962C8B-B14F-4D97-AF65-F5344CB8AC3E}">
        <p14:creationId xmlns:p14="http://schemas.microsoft.com/office/powerpoint/2010/main" val="268738914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873A3A5-B2AA-2D41-F606-5C8CD3892D43}"/>
              </a:ext>
            </a:extLst>
          </p:cNvPr>
          <p:cNvSpPr>
            <a:spLocks noGrp="1"/>
          </p:cNvSpPr>
          <p:nvPr>
            <p:ph type="title"/>
          </p:nvPr>
        </p:nvSpPr>
        <p:spPr>
          <a:xfrm>
            <a:off x="4225028" y="309558"/>
            <a:ext cx="7393534" cy="1138769"/>
          </a:xfrm>
        </p:spPr>
        <p:txBody>
          <a:bodyPr anchor="t">
            <a:normAutofit/>
          </a:bodyPr>
          <a:lstStyle/>
          <a:p>
            <a:r>
              <a:rPr lang="en-US" sz="4300" dirty="0"/>
              <a:t>Actionable </a:t>
            </a:r>
            <a:r>
              <a:rPr lang="en-US" sz="4300"/>
              <a:t>Recommendations</a:t>
            </a:r>
            <a:endParaRPr lang="en-US" sz="4300" dirty="0"/>
          </a:p>
        </p:txBody>
      </p:sp>
      <p:pic>
        <p:nvPicPr>
          <p:cNvPr id="8" name="Customer retention image">
            <a:extLst>
              <a:ext uri="{FF2B5EF4-FFF2-40B4-BE49-F238E27FC236}">
                <a16:creationId xmlns:a16="http://schemas.microsoft.com/office/drawing/2014/main" id="{10E08270-31BA-99B1-5C5F-BF878D14204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8086" r="3919"/>
          <a:stretch>
            <a:fillRect/>
          </a:stretch>
        </p:blipFill>
        <p:spPr>
          <a:xfrm>
            <a:off x="20" y="1"/>
            <a:ext cx="4023340" cy="6858000"/>
          </a:xfrm>
          <a:noFill/>
        </p:spPr>
      </p:pic>
      <p:sp>
        <p:nvSpPr>
          <p:cNvPr id="20" name="Content Placeholder 3">
            <a:extLst>
              <a:ext uri="{FF2B5EF4-FFF2-40B4-BE49-F238E27FC236}">
                <a16:creationId xmlns:a16="http://schemas.microsoft.com/office/drawing/2014/main" id="{9AC039C6-DCAA-87EF-022B-6B49DB0803D2}"/>
              </a:ext>
            </a:extLst>
          </p:cNvPr>
          <p:cNvSpPr>
            <a:spLocks noGrp="1"/>
          </p:cNvSpPr>
          <p:nvPr>
            <p:ph sz="quarter" idx="14"/>
          </p:nvPr>
        </p:nvSpPr>
        <p:spPr>
          <a:xfrm>
            <a:off x="4309087" y="1557843"/>
            <a:ext cx="7225415" cy="4212926"/>
          </a:xfrm>
        </p:spPr>
        <p:txBody>
          <a:bodyPr>
            <a:normAutofit/>
          </a:bodyPr>
          <a:lstStyle/>
          <a:p>
            <a:pPr marL="342900" indent="-342900">
              <a:spcBef>
                <a:spcPts val="1000"/>
              </a:spcBef>
              <a:buAutoNum type="arabicPeriod"/>
            </a:pPr>
            <a:r>
              <a:rPr lang="en-US" sz="1800" dirty="0">
                <a:latin typeface="Aptos Narrow" panose="020B0004020202020204" pitchFamily="34" charset="0"/>
              </a:rPr>
              <a:t>Encourage month-to-month customers to switch to one-year or two-year contracts through discounts and loyalty rewards.</a:t>
            </a:r>
          </a:p>
          <a:p>
            <a:pPr marL="342900" indent="-342900">
              <a:spcBef>
                <a:spcPts val="1000"/>
              </a:spcBef>
              <a:buAutoNum type="arabicPeriod"/>
            </a:pPr>
            <a:r>
              <a:rPr lang="en-US" sz="1800" dirty="0">
                <a:latin typeface="Aptos Narrow" panose="020B0004020202020204" pitchFamily="34" charset="0"/>
              </a:rPr>
              <a:t>Investigate why Fiber Optic customers churn at a significantly higher rate.</a:t>
            </a:r>
          </a:p>
          <a:p>
            <a:pPr marL="342900" indent="-342900">
              <a:spcBef>
                <a:spcPts val="1000"/>
              </a:spcBef>
              <a:buAutoNum type="arabicPeriod"/>
            </a:pPr>
            <a:r>
              <a:rPr lang="en-US" sz="1800" dirty="0">
                <a:latin typeface="Aptos Narrow" panose="020B0004020202020204" pitchFamily="34" charset="0"/>
              </a:rPr>
              <a:t>Review the electronic check payment experience and encourage customers to use automatic payment methods.</a:t>
            </a:r>
          </a:p>
          <a:p>
            <a:pPr marL="342900" indent="-342900">
              <a:spcBef>
                <a:spcPts val="1000"/>
              </a:spcBef>
              <a:buAutoNum type="arabicPeriod"/>
            </a:pPr>
            <a:r>
              <a:rPr lang="en-US" sz="1800" dirty="0">
                <a:latin typeface="Aptos Narrow" panose="020B0004020202020204" pitchFamily="34" charset="0"/>
              </a:rPr>
              <a:t>Improve customer onboarding during the first months of subscription to reduce early churn.</a:t>
            </a:r>
          </a:p>
          <a:p>
            <a:pPr marL="342900" indent="-342900">
              <a:spcBef>
                <a:spcPts val="1000"/>
              </a:spcBef>
              <a:buAutoNum type="arabicPeriod"/>
            </a:pPr>
            <a:r>
              <a:rPr lang="en-US" sz="1800" dirty="0">
                <a:latin typeface="Aptos Narrow" panose="020B0004020202020204" pitchFamily="34" charset="0"/>
              </a:rPr>
              <a:t>Offer personalized retention campaigns to customers showing high-risk characteristics.</a:t>
            </a:r>
          </a:p>
        </p:txBody>
      </p:sp>
    </p:spTree>
    <p:extLst>
      <p:ext uri="{BB962C8B-B14F-4D97-AF65-F5344CB8AC3E}">
        <p14:creationId xmlns:p14="http://schemas.microsoft.com/office/powerpoint/2010/main" val="2634497050"/>
      </p:ext>
    </p:extLst>
  </p:cSld>
  <p:clrMapOvr>
    <a:masterClrMapping/>
  </p:clrMapOvr>
  <p:transition spd="slow">
    <p:wipe/>
  </p:transition>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Axis</Template>
  <TotalTime>122</TotalTime>
  <Words>470</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 Narrow</vt:lpstr>
      <vt:lpstr>Arial</vt:lpstr>
      <vt:lpstr>Neue Haas Grotesk Text Pro</vt:lpstr>
      <vt:lpstr>Axis</vt:lpstr>
      <vt:lpstr>Customer Churn Analysis</vt:lpstr>
      <vt:lpstr>Key Findings</vt:lpstr>
      <vt:lpstr>Business Risk</vt:lpstr>
      <vt:lpstr>Business opportunity</vt:lpstr>
      <vt:lpstr>Actionable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euphemia ayogu</dc:creator>
  <cp:lastModifiedBy>euphemia ayogu</cp:lastModifiedBy>
  <cp:revision>1</cp:revision>
  <dcterms:created xsi:type="dcterms:W3CDTF">2026-08-06T09:01:21Z</dcterms:created>
  <dcterms:modified xsi:type="dcterms:W3CDTF">2026-08-06T11:04:11Z</dcterms:modified>
</cp:coreProperties>
</file>